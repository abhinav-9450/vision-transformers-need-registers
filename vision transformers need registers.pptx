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7:19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73 24575,'0'-3'0,"7"0"0,10-2 0,7-1 0,8-1 0,9-2 0,7 0 0,7 0 0,4 1 0,-3 2 0,-4 2 0,-9 2 0,-8 1 0,-9 0 0,-8 2-8191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7:49.62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6 0,'2330'0'0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7:58.0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23.5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 22601,'4393'0'0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27.1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9830,'17'1'1377,"-1"0"-1,1 2 1,17 4-1,11 1 826,-32-6-1328,0-2 0,0 1 1,0-2-1,0 0 0,0 0 1,25-7-1,-24 6-1,0 0 0,25 0 0,-12 2-936,34-1 63,-55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1.4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3.0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3.5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1 0 9830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4.0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1 0 9830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4.3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53 0 9830,'-2'1'611,"-2"1"-1,-2 1-224,0 0-113,0 1 114,-1-1-114,1 0 0,1-1 113,-1 0-113,1 0-273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5.0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5.4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9830,'1'0'273,"1"0"0,0-1 0,0-1-273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5.7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9830,'0'0'273,"2"0"-273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6.2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1 0 9830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6.7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9830,'1'0'273,"1"0"0,1 0 0,1 0 0,0 0-273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7.0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7.3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9830,'1'0'273,"0"0"-273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7.6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8.2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8.5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39.3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40.3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44.1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50 11991,'0'-3'0,"0"1"0,0 0 0,0-1 0,0 1 0,0 0 0,0-1 0,0 1 0,0 0 0,1 2 0,-1-3 0,0 1 0,1 0 0,-1-1 0,0 1 0,1 2 0,-1-2 0,1 2 0,-1-3 0,1 3 0,0-2 0,-1 2 0,1 0 0,0 0 0,0 0 0,0 0 0,-1 0 0,1 0 0,0 2 0,0-2 0,0 3 0,-1-1 0,0 0 0,1 1 0,0-1 0,-1 0 0,0 1 0,1-1 0,-1 0 0,1 1 0,-1-1 0,0 0 0,0 1 0,0 1 0,0-1 0,0-1 0,0 3 0,0-3 0,0 0 0,0 1 0,0 1 0,0-1 0,0-1 0,0 0 0,0 0 0,0 1 0,0-1 0,-1 0 0,1 1 0,0-1 0,0 0 0,0 1 0,-1-1 0,1 0 0,0 1 0,0-1 0,-1 0 0,1 1 0,0-1 0,0-4 0,-1 2 0,1 0 0,-1 0 0,0 0 0,0 0 0,0 0 0,1 0 0,-1 0 0,0 0 0,0 0 0,0 0 0,1-3 0,-1 3 0,-1 0 0,1 0 0,1 0 0,-1-2 0,0 2 0,0 0 0,0 0 0,0-2 0,0 2 0,0-3 0,0 3 0,0-2 0,0 2 0,0-2 0,0 2 0,1-3 0,-1 1 0,0 0 0,0-1 0,0 1 0,1 0 0,0 2 0,-1-3 0,1 1 0,0 0 0,0 0 0,-1 2 0,1-3 0,0 1 0,0 0 0,0-1 0,1 3 0,-1-2 0,0 0 0,1-1 0,-1 1 0,1 0 0,0-1 0,0 3 0,0 0 0,-1-2 0,0 2 0,1 0 0,0 0 0,-1-2 0,1 2 0,0 0 0,-1 0 0,1 0 0,0 2 0,0-2 0,0 0 0,-1 0 0,0 2 0,1-2 0,0 0 0,-1 3 0,0-3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16.0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174 12 14128,'174'159'0,"-521"-159"0,520-159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20.1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232 31 9830,'-2'-2'155,"0"0"1,0 1-1,0-1 0,0 0 1,0 1-1,-1-1 0,1 1 0,0 0 1,-1 0-1,1 0 0,-1 0 1,0 0-1,-4-1 0,-1 0 191,-2-1 306,-1 1 0,0 0 0,1 1 0,-1 0 0,0 1 0,0 0 0,-16 3-1,-12-1 1435,0-2-26,33 0-2015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53.0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1 0 9830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55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56.2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57.0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59.6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8:59.9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0.8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1.1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1.9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2.1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2.8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3.1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4.3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1 0 9830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4.8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5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6.2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6.5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7.3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07.6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10.6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9830,'3'2'284,"0"-1"1,0 0-1,-1-1 0,1 1 1,0 0-1,0-1 0,0 0 0,0 0 1,0 0-1,5 0 0,-6 0-134,150 5 7290,-148-5-7395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4:19:25.8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86 9830,'56'-14'4800,"-28"12"-3853,-10 1 451,-1-1 0,26-7 0,-17 6 123,-23 3-1300,1 0 0,0-1 1,-1 1-1,1 0 0,0-1 0,-1 0 1,1 0-1,-1 0 0,1-1 0,5-2 1,-9 3-255,0 1 1,0-1 0,0 1 0,0-1 0,0 1 0,0-1 0,0 1 0,0-1 0,0 1 0,0-1 0,-1 1-1,1-1 1,0 1 0,0-1 0,0 1 0,-1 0 0,1-1 0,0 1 0,-1-1 0,1 1 0,0 0-1,-1-1 1,1 1 0,0 0 0,-1-1 0,1 1 0,-1 0 0,1 0 0,0-1 0,-1 1 0,1 0 0,-1 0-1,1 0 1,-1 0 0,0-1 0,-19-8-458,-1 4 887,1 2-1,-1 0 1,-33 0 0,-10-1 385,49 2-162,33 4-222,33 5 130,22 5-290,-54-10-244,-1 0-1,20 6 1,-34-6 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21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compute-limited reproduction of the core mechanism of 'Vision Transformers Need Registers' (Darcet et al., ICLR 2024), run on one Kaggle Tesla T4. I implemented the register-token method end to end: a token-norm analysis of the pre-trained DINOv2 ViT-g/14, and a compact ViT trained on Imagenette with 0 vs 4 registers over five seeds (42 to 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Registers are not output classes and are not directly supervised. They are internal scratch-space tokens: the network can read from and write to them in every layer, which gives it a place to store global information instead of recycling low-information patch tokens. After the last block they are removed and only the CLS token feeds the classifier. The cost is 4 tokens per layer and 4 x 192 = 768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model, condensed from the notebook. Left: Attention (fused SDPA for training, explicit softmax in the last block when I need the attention weights) and a pre-norm Block. Right: SmallViT. Orange lines are the register mechanism. (1) self.reg is a (1,R,D) learnable parameter with no positional embedding. (2) In forward_tokens it is appended after CLS + patches + pos, so tokens go from 257 to 261. (3) All blocks process every token, so registers read from and write to image tokens in every layer. (4) features() slices x[:, :1+N] to discard registers and classifies from CLS only. Initialisation: trunc_normal std 0.02 on cls, pos, reg and Linear weights. Sanity check confirmed 257 vs 261 tokens and 2.758M vs 2.759M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I reproduced the artifact phenomenon. In DINOv2 ViT-g/14, 2.88% of final-layer patch tokens (about 470 of 16,384) form a separate high-norm group: median norm 49.1, maximum 542.8, about 11 times the median. The absolute (&gt;150) and relative (&gt;2.5x median) rules flag the same fraction, and the tokens sit on grass, sky and plain backgrounds, as in the paper (which reports roughly 2%). For the register variant I checked the norm maps visually: smooth, no flagged tokens; I did not compute a numeric outlier fraction. In the small ViT, registers add only 768 parameters and gave a higher mean accuracy (+0.60 supervised, +0.54 probe), ahead in four of five seeds. The gain is about one seed standard deviation (Welch p = 0.12 and 0.19), so I call it a consistent small trend that more seeds would need to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small ViT (2.76M parameters, 40 epochs, under 10,000 images) does not develop artifacts, which is expected at this scale and is a property of the setup, not of the implementation. What the experiments do show: the mechanism is easy to add, costs 768 parameters and about 2% extra training time, and gives slightly lower max/median norm (1.759 to 1.702) and more spread CLS attention (entropy 0.744 to 0.777). The registers receive 0.65% of last-layer CLS attention. These attention statistics are from seed 42 only. Natural next steps: a sweep over the number of registers, dense-task evaluation, and larger or self-supervised register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10.xml"/><Relationship Id="rId26" Type="http://schemas.openxmlformats.org/officeDocument/2006/relationships/customXml" Target="../ink/ink15.xml"/><Relationship Id="rId39" Type="http://schemas.openxmlformats.org/officeDocument/2006/relationships/customXml" Target="../ink/ink25.xml"/><Relationship Id="rId21" Type="http://schemas.openxmlformats.org/officeDocument/2006/relationships/customXml" Target="../ink/ink12.xml"/><Relationship Id="rId34" Type="http://schemas.openxmlformats.org/officeDocument/2006/relationships/customXml" Target="../ink/ink22.xml"/><Relationship Id="rId42" Type="http://schemas.openxmlformats.org/officeDocument/2006/relationships/customXml" Target="../ink/ink27.xml"/><Relationship Id="rId47" Type="http://schemas.openxmlformats.org/officeDocument/2006/relationships/customXml" Target="../ink/ink32.xml"/><Relationship Id="rId50" Type="http://schemas.openxmlformats.org/officeDocument/2006/relationships/customXml" Target="../ink/ink35.xml"/><Relationship Id="rId55" Type="http://schemas.openxmlformats.org/officeDocument/2006/relationships/customXml" Target="../ink/ink40.xml"/><Relationship Id="rId6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8.xml"/><Relationship Id="rId29" Type="http://schemas.openxmlformats.org/officeDocument/2006/relationships/customXml" Target="../ink/ink17.xml"/><Relationship Id="rId11" Type="http://schemas.openxmlformats.org/officeDocument/2006/relationships/image" Target="../media/image6.png"/><Relationship Id="rId24" Type="http://schemas.openxmlformats.org/officeDocument/2006/relationships/image" Target="../media/image10.png"/><Relationship Id="rId32" Type="http://schemas.openxmlformats.org/officeDocument/2006/relationships/customXml" Target="../ink/ink20.xml"/><Relationship Id="rId37" Type="http://schemas.openxmlformats.org/officeDocument/2006/relationships/customXml" Target="../ink/ink24.xml"/><Relationship Id="rId40" Type="http://schemas.openxmlformats.org/officeDocument/2006/relationships/image" Target="../media/image14.png"/><Relationship Id="rId45" Type="http://schemas.openxmlformats.org/officeDocument/2006/relationships/customXml" Target="../ink/ink30.xml"/><Relationship Id="rId53" Type="http://schemas.openxmlformats.org/officeDocument/2006/relationships/customXml" Target="../ink/ink38.xml"/><Relationship Id="rId58" Type="http://schemas.openxmlformats.org/officeDocument/2006/relationships/customXml" Target="../ink/ink43.xml"/><Relationship Id="rId5" Type="http://schemas.openxmlformats.org/officeDocument/2006/relationships/image" Target="../media/image3.png"/><Relationship Id="rId61" Type="http://schemas.openxmlformats.org/officeDocument/2006/relationships/image" Target="../media/image15.png"/><Relationship Id="rId19" Type="http://schemas.openxmlformats.org/officeDocument/2006/relationships/image" Target="../media/image8.png"/><Relationship Id="rId14" Type="http://schemas.openxmlformats.org/officeDocument/2006/relationships/customXml" Target="../ink/ink6.xml"/><Relationship Id="rId22" Type="http://schemas.openxmlformats.org/officeDocument/2006/relationships/image" Target="../media/image9.png"/><Relationship Id="rId27" Type="http://schemas.openxmlformats.org/officeDocument/2006/relationships/image" Target="../media/image11.png"/><Relationship Id="rId30" Type="http://schemas.openxmlformats.org/officeDocument/2006/relationships/customXml" Target="../ink/ink18.xml"/><Relationship Id="rId35" Type="http://schemas.openxmlformats.org/officeDocument/2006/relationships/customXml" Target="../ink/ink23.xml"/><Relationship Id="rId43" Type="http://schemas.openxmlformats.org/officeDocument/2006/relationships/customXml" Target="../ink/ink28.xml"/><Relationship Id="rId48" Type="http://schemas.openxmlformats.org/officeDocument/2006/relationships/customXml" Target="../ink/ink33.xml"/><Relationship Id="rId56" Type="http://schemas.openxmlformats.org/officeDocument/2006/relationships/customXml" Target="../ink/ink41.xml"/><Relationship Id="rId8" Type="http://schemas.openxmlformats.org/officeDocument/2006/relationships/customXml" Target="../ink/ink3.xml"/><Relationship Id="rId51" Type="http://schemas.openxmlformats.org/officeDocument/2006/relationships/customXml" Target="../ink/ink36.xml"/><Relationship Id="rId3" Type="http://schemas.openxmlformats.org/officeDocument/2006/relationships/image" Target="../media/image2.png"/><Relationship Id="rId12" Type="http://schemas.openxmlformats.org/officeDocument/2006/relationships/customXml" Target="../ink/ink5.xml"/><Relationship Id="rId17" Type="http://schemas.openxmlformats.org/officeDocument/2006/relationships/customXml" Target="../ink/ink9.xml"/><Relationship Id="rId25" Type="http://schemas.openxmlformats.org/officeDocument/2006/relationships/customXml" Target="../ink/ink14.xml"/><Relationship Id="rId33" Type="http://schemas.openxmlformats.org/officeDocument/2006/relationships/customXml" Target="../ink/ink21.xml"/><Relationship Id="rId38" Type="http://schemas.openxmlformats.org/officeDocument/2006/relationships/image" Target="../media/image13.png"/><Relationship Id="rId46" Type="http://schemas.openxmlformats.org/officeDocument/2006/relationships/customXml" Target="../ink/ink31.xml"/><Relationship Id="rId59" Type="http://schemas.openxmlformats.org/officeDocument/2006/relationships/customXml" Target="../ink/ink44.xml"/><Relationship Id="rId20" Type="http://schemas.openxmlformats.org/officeDocument/2006/relationships/customXml" Target="../ink/ink11.xml"/><Relationship Id="rId41" Type="http://schemas.openxmlformats.org/officeDocument/2006/relationships/customXml" Target="../ink/ink26.xml"/><Relationship Id="rId54" Type="http://schemas.openxmlformats.org/officeDocument/2006/relationships/customXml" Target="../ink/ink39.xml"/><Relationship Id="rId62" Type="http://schemas.openxmlformats.org/officeDocument/2006/relationships/customXml" Target="../ink/ink4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3.xml"/><Relationship Id="rId28" Type="http://schemas.openxmlformats.org/officeDocument/2006/relationships/customXml" Target="../ink/ink16.xml"/><Relationship Id="rId36" Type="http://schemas.openxmlformats.org/officeDocument/2006/relationships/image" Target="../media/image12.png"/><Relationship Id="rId49" Type="http://schemas.openxmlformats.org/officeDocument/2006/relationships/customXml" Target="../ink/ink34.xml"/><Relationship Id="rId57" Type="http://schemas.openxmlformats.org/officeDocument/2006/relationships/customXml" Target="../ink/ink42.xml"/><Relationship Id="rId10" Type="http://schemas.openxmlformats.org/officeDocument/2006/relationships/customXml" Target="../ink/ink4.xml"/><Relationship Id="rId31" Type="http://schemas.openxmlformats.org/officeDocument/2006/relationships/customXml" Target="../ink/ink19.xml"/><Relationship Id="rId44" Type="http://schemas.openxmlformats.org/officeDocument/2006/relationships/customXml" Target="../ink/ink29.xml"/><Relationship Id="rId52" Type="http://schemas.openxmlformats.org/officeDocument/2006/relationships/customXml" Target="../ink/ink37.xml"/><Relationship Id="rId60" Type="http://schemas.openxmlformats.org/officeDocument/2006/relationships/customXml" Target="../ink/ink45.xml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00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91495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: Vision Transformers Need Registers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778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Saxena  |  Roll No: 24CS2003  |  IDD CSE &amp; AI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ViTs turn an image into patch tokens and process them with self-attention.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large ViTs, a few patch tokens become high-norm "artifact" tokens.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often sit on background / redundant regions and produce spiky attention maps.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Paper’s idea: add learnable register tokens as non-spatial scratch memory.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348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reproduce the artifact tokens in DINOv2 ViT-g/14 and show that registers fit cleanly into a small ViT (Kaggle T4).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9EA63F-7427-1F39-15E8-F7FAED7B5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224000"/>
            <a:ext cx="3848100" cy="1322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B39BBD-EAA8-8EC8-2E48-44EA380AFC80}"/>
              </a:ext>
            </a:extLst>
          </p:cNvPr>
          <p:cNvSpPr txBox="1"/>
          <p:nvPr/>
        </p:nvSpPr>
        <p:spPr>
          <a:xfrm>
            <a:off x="6252550" y="3987842"/>
            <a:ext cx="13773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Book Antiqua" panose="02040602050305030304" pitchFamily="18" charset="0"/>
              </a:rPr>
              <a:t>Fig: Training curves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Register Tokens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572000" cy="2423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914400"/>
            <a:ext cx="4389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ViT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Z₀ = [x_cls; x₁; …; x_N] + E_pos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registers (R learnable vectors)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Z₀ʳᵉᵍ = [Z₀; r₁; …; r_R]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Z_l = TransformerBlock_l(Z_{l-1})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(registers discarded)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W · LN(Z_L[CLS]) + 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868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17043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are extra learnable vectors shared across all images.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after the positional embedding, so they carry no spatial position.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take part in self-attention at every layer (read and write).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before the classifier; no loss supervises them directly.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setting: R = 0 vs R = 4, only ≈768 extra parameters (4 × D=192).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3611880"/>
            <a:ext cx="1261872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3611880"/>
            <a:ext cx="126187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3794760"/>
            <a:ext cx="18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77594" y="3611880"/>
            <a:ext cx="1261872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77594" y="3611880"/>
            <a:ext cx="126187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021178" y="3794760"/>
            <a:ext cx="18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89427" y="3611880"/>
            <a:ext cx="1261872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89427" y="3611880"/>
            <a:ext cx="126187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tokens + CLS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33011" y="3794760"/>
            <a:ext cx="18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01261" y="3611880"/>
            <a:ext cx="1261872" cy="731520"/>
          </a:xfrm>
          <a:prstGeom prst="roundRect">
            <a:avLst>
              <a:gd name="adj" fmla="val 75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01261" y="3611880"/>
            <a:ext cx="126187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registers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844845" y="3794760"/>
            <a:ext cx="18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13094" y="3611880"/>
            <a:ext cx="1261872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13094" y="3611880"/>
            <a:ext cx="126187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256678" y="3794760"/>
            <a:ext cx="18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24928" y="3611880"/>
            <a:ext cx="1261872" cy="731520"/>
          </a:xfrm>
          <a:prstGeom prst="roundRect">
            <a:avLst>
              <a:gd name="adj" fmla="val 75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24928" y="3611880"/>
            <a:ext cx="1261872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registers → classify CLS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length: 257 tokens (R=0) → 261 tokens (R=4), about 1.6% more tokens per layer.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Complete Model Code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-1684020" y="-381000"/>
            <a:ext cx="11201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67100" y="777240"/>
            <a:ext cx="5311140" cy="3703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2820" y="818388"/>
            <a:ext cx="5212080" cy="3753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Block(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                                 # pre-norm transformer block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__(s, dim, heads):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__()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s.n1, s.n2,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s.attn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nn.LayerNorm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(dim),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nn.LayerNorm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(dim), Attention(dim, heads)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s.mlp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nn.Sequential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nn.Linear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(dim, 4*dim),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nn.GELU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nn.Linear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(4*dim, dim))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forward(s, x,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return_attn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=False):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h, a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s.attn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(s.n1(x),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return_attn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# fused SDPA, or explicit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</a:t>
            </a:r>
            <a:endParaRPr lang="en-US" sz="700" dirty="0">
              <a:solidFill>
                <a:srgbClr val="E5E7E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 + h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 +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s.mlp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(s.n2(x)), a</a:t>
            </a:r>
          </a:p>
          <a:p>
            <a:endParaRPr lang="en-US" sz="700" dirty="0">
              <a:solidFill>
                <a:srgbClr val="E5E7E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SmallViT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__(s,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patch, dim, depth, heads,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num_classes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=10,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num_registers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=0):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__()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patch) ** 2,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num_registers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N patch tokens, R registers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s.patch_embed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nn.Conv2d(3, dim, patch, patch)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s.cls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nn.Parameter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torch.zeros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1, dim))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s.pos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nn.Parameter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torch.zeros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 +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dim))        # [CLS] + patches only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s.reg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nn.Parameter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torch.zeros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dim)) if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else None  # no position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s.blocks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nn.ModuleList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([Block(dim, heads) for _ in range(depth)])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s.norm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s.head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nn.LayerNorm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(dim),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nn.Linear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num_classes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endParaRPr lang="en-US" sz="700" dirty="0">
              <a:solidFill>
                <a:srgbClr val="E5E7E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forward_tokens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(s, x):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x.shape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s.patch_embed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(x).flatten(2).transpose(1, 2)                  # (B, N, D)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torch.cat([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s.cls.expand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-1, -1), p], 1) +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s.pos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# (B, 1+N, D)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                                              # APPEND registers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torch.cat([x,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s.reg.expand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-1, -1)], 1)               # (B, 1+N+R, D)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blk in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s.blocks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                                 # registers attend every layer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x, _ = blk(x)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</a:t>
            </a:r>
          </a:p>
          <a:p>
            <a:endParaRPr lang="en-US" sz="700" dirty="0">
              <a:solidFill>
                <a:srgbClr val="E5E7E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forward(s, x):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s.forward_tokens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(x)[:, :1 +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                  # DISCARD registers</a:t>
            </a:r>
          </a:p>
          <a:p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s.head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s.norm</a:t>
            </a:r>
            <a:r>
              <a:rPr lang="en-US" sz="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(x[:, 0]))                                   # classify from [CLS]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4553712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1 Embed patches + [CLS] + pos   →   2 Append R registers (orange)   →   3 Run 6 blocks   →   4 Discard registers, classify [CLS]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D746EA-B115-6DAF-D2DC-C0BD4F692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73" y="1104607"/>
            <a:ext cx="2568163" cy="33759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8FA59D-0BB5-2228-2099-B3DA91628082}"/>
              </a:ext>
            </a:extLst>
          </p:cNvPr>
          <p:cNvSpPr txBox="1"/>
          <p:nvPr/>
        </p:nvSpPr>
        <p:spPr>
          <a:xfrm>
            <a:off x="601530" y="735275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Experiment Pipeline</a:t>
            </a:r>
            <a:endParaRPr lang="en-IN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ECF801-4D1F-2C0F-868A-362C4A150C2C}"/>
                  </a:ext>
                </a:extLst>
              </p14:cNvPr>
              <p14:cNvContentPartPr/>
              <p14:nvPr/>
            </p14:nvContentPartPr>
            <p14:xfrm>
              <a:off x="2362160" y="1091400"/>
              <a:ext cx="185040" cy="26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ECF801-4D1F-2C0F-868A-362C4A150C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6040" y="1085280"/>
                <a:ext cx="1972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174DE3D-3561-446D-0C48-99E0D2C36E7F}"/>
                  </a:ext>
                </a:extLst>
              </p14:cNvPr>
              <p14:cNvContentPartPr/>
              <p14:nvPr/>
            </p14:nvContentPartPr>
            <p14:xfrm>
              <a:off x="1711640" y="1096800"/>
              <a:ext cx="83880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174DE3D-3561-446D-0C48-99E0D2C36E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02640" y="988800"/>
                <a:ext cx="8564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BE1849C-6889-7DB9-5F78-BD3C25F2B071}"/>
                  </a:ext>
                </a:extLst>
              </p14:cNvPr>
              <p14:cNvContentPartPr/>
              <p14:nvPr/>
            </p14:nvContentPartPr>
            <p14:xfrm>
              <a:off x="2626040" y="107664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BE1849C-6889-7DB9-5F78-BD3C25F2B0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08400" y="105900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2EF43E9-C17D-D9A0-ED4E-3F32360EAF05}"/>
                  </a:ext>
                </a:extLst>
              </p14:cNvPr>
              <p14:cNvContentPartPr/>
              <p14:nvPr/>
            </p14:nvContentPartPr>
            <p14:xfrm>
              <a:off x="1453275" y="1085505"/>
              <a:ext cx="158148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2EF43E9-C17D-D9A0-ED4E-3F32360EAF0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5275" y="1049505"/>
                <a:ext cx="1617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17B4F3D-CC49-0B72-F7EF-9CF5C39CC864}"/>
                  </a:ext>
                </a:extLst>
              </p14:cNvPr>
              <p14:cNvContentPartPr/>
              <p14:nvPr/>
            </p14:nvContentPartPr>
            <p14:xfrm>
              <a:off x="1487475" y="1093425"/>
              <a:ext cx="146520" cy="8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17B4F3D-CC49-0B72-F7EF-9CF5C39CC8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69835" y="1075425"/>
                <a:ext cx="18216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DFC1E79-0437-56A8-0FFE-B603B8F7CA0E}"/>
              </a:ext>
            </a:extLst>
          </p:cNvPr>
          <p:cNvGrpSpPr/>
          <p:nvPr/>
        </p:nvGrpSpPr>
        <p:grpSpPr>
          <a:xfrm>
            <a:off x="1464795" y="1099185"/>
            <a:ext cx="68760" cy="11520"/>
            <a:chOff x="1464795" y="1099185"/>
            <a:chExt cx="68760" cy="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EA330D-3A3C-D0F7-3B35-A5E75022DA2C}"/>
                    </a:ext>
                  </a:extLst>
                </p14:cNvPr>
                <p14:cNvContentPartPr/>
                <p14:nvPr/>
              </p14:nvContentPartPr>
              <p14:xfrm>
                <a:off x="1464795" y="1100985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EA330D-3A3C-D0F7-3B35-A5E75022DA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6795" y="10829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4B8848-43AA-BC73-6399-99CABD743552}"/>
                    </a:ext>
                  </a:extLst>
                </p14:cNvPr>
                <p14:cNvContentPartPr/>
                <p14:nvPr/>
              </p14:nvContentPartPr>
              <p14:xfrm>
                <a:off x="1478115" y="1104585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4B8848-43AA-BC73-6399-99CABD7435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0115" y="10869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FFBB56-D46F-B25B-2A64-36DD4B2C381C}"/>
                    </a:ext>
                  </a:extLst>
                </p14:cNvPr>
                <p14:cNvContentPartPr/>
                <p14:nvPr/>
              </p14:nvContentPartPr>
              <p14:xfrm>
                <a:off x="1487475" y="1100985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FFBB56-D46F-B25B-2A64-36DD4B2C38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9835" y="10829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CA2B9B-196C-2EC2-E69F-DB3D3D190D53}"/>
                    </a:ext>
                  </a:extLst>
                </p14:cNvPr>
                <p14:cNvContentPartPr/>
                <p14:nvPr/>
              </p14:nvContentPartPr>
              <p14:xfrm>
                <a:off x="1500795" y="1099185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CA2B9B-196C-2EC2-E69F-DB3D3D190D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83155" y="10811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55ACCD-77FE-13BA-E66C-061721D3AF6C}"/>
                    </a:ext>
                  </a:extLst>
                </p14:cNvPr>
                <p14:cNvContentPartPr/>
                <p14:nvPr/>
              </p14:nvContentPartPr>
              <p14:xfrm>
                <a:off x="1487835" y="1099185"/>
                <a:ext cx="19080" cy="9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55ACCD-77FE-13BA-E66C-061721D3AF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69835" y="1081185"/>
                  <a:ext cx="54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22F0EAB-BB00-566C-C7D8-725D1CDB2BBD}"/>
                    </a:ext>
                  </a:extLst>
                </p14:cNvPr>
                <p14:cNvContentPartPr/>
                <p14:nvPr/>
              </p14:nvContentPartPr>
              <p14:xfrm>
                <a:off x="1466595" y="1102785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22F0EAB-BB00-566C-C7D8-725D1CDB2B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8955" y="1085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F6E39A-B10F-B4B1-5995-7D362E6F18D2}"/>
                    </a:ext>
                  </a:extLst>
                </p14:cNvPr>
                <p14:cNvContentPartPr/>
                <p14:nvPr/>
              </p14:nvContentPartPr>
              <p14:xfrm>
                <a:off x="1466595" y="1102065"/>
                <a:ext cx="2880" cy="1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F6E39A-B10F-B4B1-5995-7D362E6F18D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48955" y="1084065"/>
                  <a:ext cx="38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B4D50D5-AC32-C79C-7396-F8965458797D}"/>
                    </a:ext>
                  </a:extLst>
                </p14:cNvPr>
                <p14:cNvContentPartPr/>
                <p14:nvPr/>
              </p14:nvContentPartPr>
              <p14:xfrm>
                <a:off x="1472355" y="1100985"/>
                <a:ext cx="108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B4D50D5-AC32-C79C-7396-F8965458797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54715" y="1082985"/>
                  <a:ext cx="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B2EA8D-7012-B896-A87A-C0CBB034F662}"/>
                    </a:ext>
                  </a:extLst>
                </p14:cNvPr>
                <p14:cNvContentPartPr/>
                <p14:nvPr/>
              </p14:nvContentPartPr>
              <p14:xfrm>
                <a:off x="1485675" y="1108545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B2EA8D-7012-B896-A87A-C0CBB034F6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8035" y="1090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347AB8-DBB3-0643-D95B-7955F9A63089}"/>
                    </a:ext>
                  </a:extLst>
                </p14:cNvPr>
                <p14:cNvContentPartPr/>
                <p14:nvPr/>
              </p14:nvContentPartPr>
              <p14:xfrm>
                <a:off x="1493235" y="1108545"/>
                <a:ext cx="540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347AB8-DBB3-0643-D95B-7955F9A630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75595" y="1090545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E32A4F5-8930-B96E-D5C4-A5C3EC309CDA}"/>
                    </a:ext>
                  </a:extLst>
                </p14:cNvPr>
                <p14:cNvContentPartPr/>
                <p14:nvPr/>
              </p14:nvContentPartPr>
              <p14:xfrm>
                <a:off x="1502955" y="1106745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E32A4F5-8930-B96E-D5C4-A5C3EC309CD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84955" y="10887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7446133-45FC-E6E7-D5D4-2152CABD436D}"/>
                    </a:ext>
                  </a:extLst>
                </p14:cNvPr>
                <p14:cNvContentPartPr/>
                <p14:nvPr/>
              </p14:nvContentPartPr>
              <p14:xfrm>
                <a:off x="1502955" y="1106745"/>
                <a:ext cx="108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7446133-45FC-E6E7-D5D4-2152CABD436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84955" y="1088745"/>
                  <a:ext cx="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6E3505-6FED-79FA-230D-CF8796136351}"/>
                    </a:ext>
                  </a:extLst>
                </p14:cNvPr>
                <p14:cNvContentPartPr/>
                <p14:nvPr/>
              </p14:nvContentPartPr>
              <p14:xfrm>
                <a:off x="1533195" y="1102785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6E3505-6FED-79FA-230D-CF87961363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5555" y="1085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95F8898-E3E0-0773-4FF5-B399AAACE061}"/>
                    </a:ext>
                  </a:extLst>
                </p14:cNvPr>
                <p14:cNvContentPartPr/>
                <p14:nvPr/>
              </p14:nvContentPartPr>
              <p14:xfrm>
                <a:off x="1527795" y="1104585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95F8898-E3E0-0773-4FF5-B399AAACE0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9795" y="10869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B7BEE0E-BD87-01FA-0C21-6E6A344FDEDB}"/>
                    </a:ext>
                  </a:extLst>
                </p14:cNvPr>
                <p14:cNvContentPartPr/>
                <p14:nvPr/>
              </p14:nvContentPartPr>
              <p14:xfrm>
                <a:off x="1522035" y="1108545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B7BEE0E-BD87-01FA-0C21-6E6A344FDE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4035" y="1090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CDF690-1073-2436-3DB3-BFA19DF4F4E1}"/>
                    </a:ext>
                  </a:extLst>
                </p14:cNvPr>
                <p14:cNvContentPartPr/>
                <p14:nvPr/>
              </p14:nvContentPartPr>
              <p14:xfrm>
                <a:off x="1516275" y="1110345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CDF690-1073-2436-3DB3-BFA19DF4F4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8275" y="10927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EAA1DB5-0891-815C-4E28-DE288CE3AC1E}"/>
                    </a:ext>
                  </a:extLst>
                </p14:cNvPr>
                <p14:cNvContentPartPr/>
                <p14:nvPr/>
              </p14:nvContentPartPr>
              <p14:xfrm>
                <a:off x="1478115" y="1106745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EAA1DB5-0891-815C-4E28-DE288CE3AC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0115" y="10887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9DEBB63-4446-9FA8-CCBA-7BA86918C644}"/>
                  </a:ext>
                </a:extLst>
              </p14:cNvPr>
              <p14:cNvContentPartPr/>
              <p14:nvPr/>
            </p14:nvContentPartPr>
            <p14:xfrm flipV="1">
              <a:off x="1664595" y="1032270"/>
              <a:ext cx="12600" cy="36647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9DEBB63-4446-9FA8-CCBA-7BA86918C64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 flipV="1">
                <a:off x="1646595" y="1014128"/>
                <a:ext cx="48240" cy="725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EEE4F20-777A-844B-8FF6-B3A23FBDBA4B}"/>
                  </a:ext>
                </a:extLst>
              </p14:cNvPr>
              <p14:cNvContentPartPr/>
              <p14:nvPr/>
            </p14:nvContentPartPr>
            <p14:xfrm rot="-10800000" flipV="1">
              <a:off x="2691643" y="1027451"/>
              <a:ext cx="125704" cy="5885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EEE4F20-777A-844B-8FF6-B3A23FBDBA4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 rot="-10800000" flipV="1">
                <a:off x="2673943" y="1009060"/>
                <a:ext cx="161465" cy="95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8650672-15D8-6DBB-0942-C7B6BEFC415D}"/>
                  </a:ext>
                </a:extLst>
              </p14:cNvPr>
              <p14:cNvContentPartPr/>
              <p14:nvPr/>
            </p14:nvContentPartPr>
            <p14:xfrm>
              <a:off x="2874915" y="1076505"/>
              <a:ext cx="83520" cy="11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8650672-15D8-6DBB-0942-C7B6BEFC415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857275" y="1058505"/>
                <a:ext cx="11916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E0D5529D-9291-6196-B538-FDACD11270D6}"/>
              </a:ext>
            </a:extLst>
          </p:cNvPr>
          <p:cNvGrpSpPr/>
          <p:nvPr/>
        </p:nvGrpSpPr>
        <p:grpSpPr>
          <a:xfrm>
            <a:off x="2830635" y="1070025"/>
            <a:ext cx="225000" cy="67320"/>
            <a:chOff x="2830635" y="1070025"/>
            <a:chExt cx="225000" cy="6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6116A5-19F4-346B-80DA-277F0B9CA678}"/>
                    </a:ext>
                  </a:extLst>
                </p14:cNvPr>
                <p14:cNvContentPartPr/>
                <p14:nvPr/>
              </p14:nvContentPartPr>
              <p14:xfrm>
                <a:off x="3041955" y="1106745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6116A5-19F4-346B-80DA-277F0B9CA6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24315" y="10887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394A12-589A-CE94-949C-251FA8274771}"/>
                    </a:ext>
                  </a:extLst>
                </p14:cNvPr>
                <p14:cNvContentPartPr/>
                <p14:nvPr/>
              </p14:nvContentPartPr>
              <p14:xfrm>
                <a:off x="3053475" y="1135185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394A12-589A-CE94-949C-251FA82747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5835" y="1117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0375E6-BF9E-DC2B-56E0-789D33BC0D25}"/>
                    </a:ext>
                  </a:extLst>
                </p14:cNvPr>
                <p14:cNvContentPartPr/>
                <p14:nvPr/>
              </p14:nvContentPartPr>
              <p14:xfrm>
                <a:off x="3030795" y="1127625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0375E6-BF9E-DC2B-56E0-789D33BC0D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12795" y="11096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13510A-E1B8-F525-07FA-EFD3243E6471}"/>
                    </a:ext>
                  </a:extLst>
                </p14:cNvPr>
                <p14:cNvContentPartPr/>
                <p14:nvPr/>
              </p14:nvContentPartPr>
              <p14:xfrm>
                <a:off x="3038355" y="1136985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13510A-E1B8-F525-07FA-EFD3243E64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20355" y="11193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4E56136-4B7E-60B5-C09B-FB4BDBE09131}"/>
                    </a:ext>
                  </a:extLst>
                </p14:cNvPr>
                <p14:cNvContentPartPr/>
                <p14:nvPr/>
              </p14:nvContentPartPr>
              <p14:xfrm>
                <a:off x="3055275" y="1129425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4E56136-4B7E-60B5-C09B-FB4BDBE091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7635" y="11117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27D4FA-AD0F-ADCE-1718-0E36D922EA19}"/>
                    </a:ext>
                  </a:extLst>
                </p14:cNvPr>
                <p14:cNvContentPartPr/>
                <p14:nvPr/>
              </p14:nvContentPartPr>
              <p14:xfrm>
                <a:off x="3055275" y="1129425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27D4FA-AD0F-ADCE-1718-0E36D922EA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7635" y="11117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099607D-88AB-D1E9-8392-04D798D0C11B}"/>
                    </a:ext>
                  </a:extLst>
                </p14:cNvPr>
                <p14:cNvContentPartPr/>
                <p14:nvPr/>
              </p14:nvContentPartPr>
              <p14:xfrm>
                <a:off x="3030795" y="1116105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099607D-88AB-D1E9-8392-04D798D0C1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12795" y="10984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A80B42-228D-0EA3-CB04-BB19B4595F39}"/>
                    </a:ext>
                  </a:extLst>
                </p14:cNvPr>
                <p14:cNvContentPartPr/>
                <p14:nvPr/>
              </p14:nvContentPartPr>
              <p14:xfrm>
                <a:off x="3030795" y="1116105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A80B42-228D-0EA3-CB04-BB19B4595F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12795" y="10984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098E52-59B8-75B9-FF3F-12F9AD2ADA52}"/>
                    </a:ext>
                  </a:extLst>
                </p14:cNvPr>
                <p14:cNvContentPartPr/>
                <p14:nvPr/>
              </p14:nvContentPartPr>
              <p14:xfrm>
                <a:off x="3011715" y="1116105"/>
                <a:ext cx="36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098E52-59B8-75B9-FF3F-12F9AD2ADA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3715" y="10984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865CDC-7212-23F4-05BC-759368031E3E}"/>
                    </a:ext>
                  </a:extLst>
                </p14:cNvPr>
                <p14:cNvContentPartPr/>
                <p14:nvPr/>
              </p14:nvContentPartPr>
              <p14:xfrm>
                <a:off x="3011715" y="1116105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865CDC-7212-23F4-05BC-759368031E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3715" y="10984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FC0B03-005D-C4C7-C053-FC04212C181E}"/>
                    </a:ext>
                  </a:extLst>
                </p14:cNvPr>
                <p14:cNvContentPartPr/>
                <p14:nvPr/>
              </p14:nvContentPartPr>
              <p14:xfrm>
                <a:off x="3049875" y="1127625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FC0B03-005D-C4C7-C053-FC04212C18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1875" y="11096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1036A2C-FD44-1E2F-114A-23CF9DAB278A}"/>
                    </a:ext>
                  </a:extLst>
                </p14:cNvPr>
                <p14:cNvContentPartPr/>
                <p14:nvPr/>
              </p14:nvContentPartPr>
              <p14:xfrm>
                <a:off x="3049875" y="1127625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1036A2C-FD44-1E2F-114A-23CF9DAB27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1875" y="11096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9CA5EE-295F-EAA7-CA01-F04E81AD6B69}"/>
                    </a:ext>
                  </a:extLst>
                </p14:cNvPr>
                <p14:cNvContentPartPr/>
                <p14:nvPr/>
              </p14:nvContentPartPr>
              <p14:xfrm>
                <a:off x="3000195" y="1095225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9CA5EE-295F-EAA7-CA01-F04E81AD6B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82195" y="10772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E61E916-2F80-0595-D797-E0D4625A386A}"/>
                    </a:ext>
                  </a:extLst>
                </p14:cNvPr>
                <p14:cNvContentPartPr/>
                <p14:nvPr/>
              </p14:nvContentPartPr>
              <p14:xfrm>
                <a:off x="2988675" y="1097025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E61E916-2F80-0595-D797-E0D4625A386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71035" y="10793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A9548E-DAAA-010C-F675-57066810C393}"/>
                    </a:ext>
                  </a:extLst>
                </p14:cNvPr>
                <p14:cNvContentPartPr/>
                <p14:nvPr/>
              </p14:nvContentPartPr>
              <p14:xfrm>
                <a:off x="2981115" y="1102785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A9548E-DAAA-010C-F675-57066810C3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63475" y="1085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F013AAB-FC09-4724-5B83-82F9950B25B0}"/>
                    </a:ext>
                  </a:extLst>
                </p14:cNvPr>
                <p14:cNvContentPartPr/>
                <p14:nvPr/>
              </p14:nvContentPartPr>
              <p14:xfrm>
                <a:off x="2992635" y="1100985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F013AAB-FC09-4724-5B83-82F9950B25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74635" y="10829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D407AE6-5A35-DD5B-519D-800DDD32AE79}"/>
                    </a:ext>
                  </a:extLst>
                </p14:cNvPr>
                <p14:cNvContentPartPr/>
                <p14:nvPr/>
              </p14:nvContentPartPr>
              <p14:xfrm>
                <a:off x="2992635" y="1100985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D407AE6-5A35-DD5B-519D-800DDD32AE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74635" y="10829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A2251D-32B5-5F97-B6EF-4558E37075BF}"/>
                    </a:ext>
                  </a:extLst>
                </p14:cNvPr>
                <p14:cNvContentPartPr/>
                <p14:nvPr/>
              </p14:nvContentPartPr>
              <p14:xfrm>
                <a:off x="2982915" y="1102785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A2251D-32B5-5F97-B6EF-4558E37075B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65275" y="1085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9D43A9C-041E-CDCA-1FEF-41D81C1193B0}"/>
                    </a:ext>
                  </a:extLst>
                </p14:cNvPr>
                <p14:cNvContentPartPr/>
                <p14:nvPr/>
              </p14:nvContentPartPr>
              <p14:xfrm>
                <a:off x="2982915" y="1102785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9D43A9C-041E-CDCA-1FEF-41D81C1193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65275" y="1085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9EC3CAA-1802-6C47-ABA1-F59171DF60A2}"/>
                    </a:ext>
                  </a:extLst>
                </p14:cNvPr>
                <p14:cNvContentPartPr/>
                <p14:nvPr/>
              </p14:nvContentPartPr>
              <p14:xfrm>
                <a:off x="2920275" y="1095225"/>
                <a:ext cx="70560" cy="4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9EC3CAA-1802-6C47-ABA1-F59171DF60A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02275" y="1077225"/>
                  <a:ext cx="106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3DE70D-258A-F8C8-12D8-D3AB77208F68}"/>
                    </a:ext>
                  </a:extLst>
                </p14:cNvPr>
                <p14:cNvContentPartPr/>
                <p14:nvPr/>
              </p14:nvContentPartPr>
              <p14:xfrm>
                <a:off x="2830635" y="1070025"/>
                <a:ext cx="84600" cy="31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3DE70D-258A-F8C8-12D8-D3AB77208F6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12995" y="1052385"/>
                  <a:ext cx="120240" cy="66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vs Paper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expects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143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High-norm artifact tokens in large ViTs.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remove them.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gains: large, self-supervised, dense tasks.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868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observations: DINOv2 ViT-g/14 (64 val images)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091703"/>
              </p:ext>
            </p:extLst>
          </p:nvPr>
        </p:nvGraphicFramePr>
        <p:xfrm>
          <a:off x="2926080" y="1143000"/>
          <a:ext cx="5852160" cy="5303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norm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norm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/ 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registers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2926080" y="1938528"/>
            <a:ext cx="5852160" cy="69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Reproduced: 2.88% of tokens (≈470 of 16,384) form a separate high-norm group.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reach 543 vs a median of 49 (11×); outliers sit on grass, sky, plain backgrounds.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registers: smooth norm map, no flagged tokens (visual check).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27664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ViT on Imagenette (5 seeds)</a:t>
            </a:r>
            <a:endParaRPr lang="en-US" sz="12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17518"/>
              </p:ext>
            </p:extLst>
          </p:nvPr>
        </p:nvGraphicFramePr>
        <p:xfrm>
          <a:off x="2898946" y="3040732"/>
          <a:ext cx="5852160" cy="10241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val acc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probe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registers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76.50 ± 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76.08 ± 0.41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registers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77.11 ± 0.52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76.61 ± 0.71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(4 − 0)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926080" y="4343400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017520" y="43434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add only 768 parameters and gave higher mean accuracy, ahead in 4 of 5 seeds; a consistent trend, still within seed noise.</a:t>
            </a:r>
            <a:endParaRPr lang="en-US" sz="11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931FDC-DEA2-C00F-E2B4-B459C8746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12" y="2150000"/>
            <a:ext cx="2300000" cy="1325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3C0BCDF-744E-6C3A-9DDA-7D95E5904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62" y="3531870"/>
            <a:ext cx="2000700" cy="15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Ablation, Limits &amp; Takeaways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4389120" cy="1234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(seed 42, 1000 val imgs)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registers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registers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outlier_frac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/ median norm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 attention 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 attention to registers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4" name="Text 3"/>
          <p:cNvSpPr txBox="1"/>
          <p:nvPr/>
        </p:nvSpPr>
        <p:spPr>
          <a:xfrm>
            <a:off x="365760" y="24688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high-norm artifacts in the small ViT, as expected at this scale.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Registers: lower max/median (1.76 → 1.70), more spread CLS attention.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get 0.65% of final-layer CLS attention.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+0.60 / +0.54 points at negligible cost.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next steps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386791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likely need larger models, longer / self-supervised training.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register-count sweep, dense tasks, larger register models.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768555" y="3809238"/>
            <a:ext cx="4265717" cy="4556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Fig: Attention and norms</a:t>
            </a:r>
            <a:endParaRPr lang="en-US" sz="900" b="1" dirty="0">
              <a:latin typeface="Book Antiqua" panose="0204060205030503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937760" y="42062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reproduced the artifact tokens in DINOv2 ViT-g/14 and built a register ViT end to end: 768 extra parameters, higher mean accuracy in 4 of 5 seeds. Showing artifact removal itself needs larger models and longer training.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5C1F79-6DE1-BBB0-B95F-D5B43713A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165" y="731520"/>
            <a:ext cx="2487900" cy="3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1881</Words>
  <Application>Microsoft Office PowerPoint</Application>
  <PresentationFormat>On-screen Show (16:9)</PresentationFormat>
  <Paragraphs>142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Artifakt Element Black</vt:lpstr>
      <vt:lpstr>Book Antiqua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Reproducing Vision Transformers Need Registers at Small Scale</dc:title>
  <dc:subject>PptxGenJS Presentation</dc:subject>
  <dc:creator>Abhinav Saxena</dc:creator>
  <cp:lastModifiedBy>Abhinav Saxena</cp:lastModifiedBy>
  <cp:revision>5</cp:revision>
  <dcterms:created xsi:type="dcterms:W3CDTF">2026-10-15T19:52:21Z</dcterms:created>
  <dcterms:modified xsi:type="dcterms:W3CDTF">2026-10-24T05:54:58Z</dcterms:modified>
</cp:coreProperties>
</file>